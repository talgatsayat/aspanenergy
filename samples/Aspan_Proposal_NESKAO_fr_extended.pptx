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Substitution du réseau CIE</c:v>
                </c:pt>
              </c:strCache>
            </c:strRef>
          </c:tx>
          <c:spPr>
            <a:ln w="31750">
              <a:solidFill>
                <a:srgbClr val="1B7A43"/>
              </a:solidFill>
            </a:ln>
          </c:spP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14.6</c:v>
                </c:pt>
                <c:pt idx="1">
                  <c:v>29.2</c:v>
                </c:pt>
                <c:pt idx="2">
                  <c:v>43.8</c:v>
                </c:pt>
                <c:pt idx="3">
                  <c:v>58.4</c:v>
                </c:pt>
                <c:pt idx="4">
                  <c:v>72.9</c:v>
                </c:pt>
                <c:pt idx="5">
                  <c:v>87.5</c:v>
                </c:pt>
                <c:pt idx="6">
                  <c:v>102.1</c:v>
                </c:pt>
                <c:pt idx="7">
                  <c:v>116.7</c:v>
                </c:pt>
                <c:pt idx="8">
                  <c:v>131.3</c:v>
                </c:pt>
                <c:pt idx="9">
                  <c:v>145.9</c:v>
                </c:pt>
                <c:pt idx="10">
                  <c:v>160.5</c:v>
                </c:pt>
                <c:pt idx="11">
                  <c:v>175.1</c:v>
                </c:pt>
                <c:pt idx="12">
                  <c:v>189.7</c:v>
                </c:pt>
                <c:pt idx="13">
                  <c:v>204.3</c:v>
                </c:pt>
                <c:pt idx="14">
                  <c:v>218.8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Exploitation Réseau + Groupe</c:v>
                </c:pt>
              </c:strCache>
            </c:strRef>
          </c:tx>
          <c:spPr>
            <a:ln w="31750">
              <a:solidFill>
                <a:srgbClr val="F2B705"/>
              </a:solidFill>
            </a:ln>
          </c:spPr>
          <c:cat>
            <c:strRef>
              <c:f>Sheet1!$A$2:$A$16</c:f>
              <c:strCach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69.5</c:v>
                </c:pt>
                <c:pt idx="1">
                  <c:v>138.9</c:v>
                </c:pt>
                <c:pt idx="2">
                  <c:v>208.4</c:v>
                </c:pt>
                <c:pt idx="3">
                  <c:v>277.8</c:v>
                </c:pt>
                <c:pt idx="4">
                  <c:v>347.3</c:v>
                </c:pt>
                <c:pt idx="5">
                  <c:v>416.7</c:v>
                </c:pt>
                <c:pt idx="6">
                  <c:v>486.2</c:v>
                </c:pt>
                <c:pt idx="7">
                  <c:v>555.7</c:v>
                </c:pt>
                <c:pt idx="8">
                  <c:v>625.1</c:v>
                </c:pt>
                <c:pt idx="9">
                  <c:v>694.6</c:v>
                </c:pt>
                <c:pt idx="10">
                  <c:v>764.0</c:v>
                </c:pt>
                <c:pt idx="11">
                  <c:v>833.5</c:v>
                </c:pt>
                <c:pt idx="12">
                  <c:v>902.9</c:v>
                </c:pt>
                <c:pt idx="13">
                  <c:v>972.4</c:v>
                </c:pt>
                <c:pt idx="14">
                  <c:v>1041.8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F6F6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F6F66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>
              <a:solidFill>
                <a:srgbClr val="0F3D24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1920240"/>
            <a:ext cx="6400800" cy="6400800"/>
          </a:xfrm>
          <a:prstGeom prst="ellipse">
            <a:avLst/>
          </a:prstGeom>
          <a:solidFill>
            <a:srgbClr val="1C4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737360" y="4297680"/>
            <a:ext cx="3383280" cy="3383280"/>
          </a:xfrm>
          <a:prstGeom prst="ellipse">
            <a:avLst/>
          </a:prstGeom>
          <a:solidFill>
            <a:srgbClr val="1C4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1" y="685800"/>
            <a:ext cx="676656" cy="6766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0200" y="804672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ASPAN ENERGY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FFFFFF"/>
                </a:solidFill>
                <a:latin typeface="Cambria"/>
              </a:rPr>
              <a:t>OFFRE FINANCIÈRE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29184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D9E5DD"/>
                </a:solidFill>
                <a:latin typeface="Calibri"/>
              </a:rPr>
              <a:t>Centrale solaire photovoltaïque de 600 kWc en autoconsommation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0690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D9E5DD"/>
                </a:solidFill>
                <a:latin typeface="Calibri"/>
              </a:rPr>
              <a:t>Client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40690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B705"/>
                </a:solidFill>
                <a:latin typeface="Calibri"/>
              </a:rPr>
              <a:t>NESKAO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069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D9E5DD"/>
                </a:solidFill>
                <a:latin typeface="Calibri"/>
              </a:rPr>
              <a:t>Contrat PPA - 15 ans     Ref. OF-NESKAO-2026-001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3949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1">
                <a:solidFill>
                  <a:srgbClr val="F2B705"/>
                </a:solidFill>
                <a:latin typeface="Calibri"/>
              </a:rPr>
              <a:t>Zéro investissement  •  Économies garanties  •  Énergie propre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F3D24"/>
                </a:solidFill>
                <a:latin typeface="Cambria"/>
              </a:rPr>
              <a:t>Synthèse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5F6F66"/>
                </a:solidFill>
                <a:latin typeface="Calibri"/>
              </a:rPr>
              <a:t>ASPAN ENERGY propose à NESKAO d'installer et d'exploiter une centrale solaire de 600 kWc en autoconsommation, sans aucun investissement. Vous ne payez que l'énergie solaire consommée, à un tarif garanti 20% inférieur au tarif de jour CIE.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06324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227832"/>
            <a:ext cx="2148840" cy="8001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7A43"/>
                </a:solidFill>
                <a:latin typeface="Cambria"/>
              </a:rPr>
              <a:t>600 kWc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4087368"/>
            <a:ext cx="21488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Puissance recommandée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306324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3227832"/>
            <a:ext cx="2148840" cy="8001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B7A43"/>
                </a:solidFill>
                <a:latin typeface="Cambria"/>
              </a:rPr>
              <a:t>870 000 kWh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4087368"/>
            <a:ext cx="21488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Production solaire / 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306324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3227832"/>
            <a:ext cx="2148840" cy="8001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B7A43"/>
                </a:solidFill>
                <a:latin typeface="Cambria"/>
              </a:rPr>
              <a:t>14,6 M FCFA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4087368"/>
            <a:ext cx="21488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Économie annuelle (Sc.1)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1976" y="306324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0F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0576" y="3227832"/>
            <a:ext cx="2148840" cy="8001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2B705"/>
                </a:solidFill>
                <a:latin typeface="Cambria"/>
              </a:rPr>
              <a:t>218,8 M FCFA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8864" y="4087368"/>
            <a:ext cx="214884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Économie cumulée 15 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10881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7A43"/>
                </a:solidFill>
                <a:latin typeface="Calibri"/>
              </a:rPr>
              <a:t>Tarif solaire garanti : 67.10 FCFA/kWh, soit -20% sur le tarif de jour CIE (83.87 FCFA/kWh).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ASPAN ENERGY CI  -  Offre NESKAO  -  Juin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0080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F3D24"/>
                </a:solidFill>
                <a:latin typeface="Cambria"/>
              </a:rPr>
              <a:t>Situation énergétique actuelle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64792"/>
            <a:ext cx="214884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B7A43"/>
                </a:solidFill>
                <a:latin typeface="Cambria"/>
              </a:rPr>
              <a:t>256 816 kWh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2536545"/>
            <a:ext cx="2148840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Consommation moyenne / mois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10712" y="160020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39312" y="1764792"/>
            <a:ext cx="214884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7A43"/>
                </a:solidFill>
                <a:latin typeface="Cambria"/>
              </a:rPr>
              <a:t>83.87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536545"/>
            <a:ext cx="2148840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Tarif de jour CIE (FCFA/kWh)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60020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1764792"/>
            <a:ext cx="214884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B7A43"/>
                </a:solidFill>
                <a:latin typeface="Cambria"/>
              </a:rPr>
              <a:t>258,5 M FCFA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536545"/>
            <a:ext cx="2148840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Facture annuelle estimée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1976" y="1600200"/>
            <a:ext cx="2606040" cy="146304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0576" y="1764792"/>
            <a:ext cx="2148840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7A43"/>
                </a:solidFill>
                <a:latin typeface="Cambria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98864" y="2536545"/>
            <a:ext cx="2148840" cy="4681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Factures analysées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3D24"/>
                </a:solidFill>
                <a:latin typeface="Calibri"/>
              </a:rPr>
              <a:t>Répartition jour / nuit de la consommation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86200"/>
            <a:ext cx="7399324" cy="50292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886200"/>
            <a:ext cx="703356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3D24"/>
                </a:solidFill>
                <a:latin typeface="Calibri"/>
              </a:rPr>
              <a:t>Jour 68%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3886200"/>
            <a:ext cx="3427171" cy="502920"/>
          </a:xfrm>
          <a:prstGeom prst="roundRect">
            <a:avLst>
              <a:gd name="adj" fmla="val 50000"/>
            </a:avLst>
          </a:prstGeom>
          <a:solidFill>
            <a:srgbClr val="D9EB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8004" y="3886200"/>
            <a:ext cx="302483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F3D24"/>
                </a:solidFill>
                <a:latin typeface="Calibri"/>
              </a:rPr>
              <a:t>Nuit 32%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006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F6F66"/>
                </a:solidFill>
                <a:latin typeface="Calibri"/>
              </a:rPr>
              <a:t>Le solaire couvre la consommation de journée, là où se concentre l'essentiel de l'activite industrielle. Un groupe électrogène assure le secours en cas de coupure.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ASPAN ENERGY CI  -  Offre NESKAO  -  Juin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F3D24"/>
                </a:solidFill>
                <a:latin typeface="Cambria"/>
              </a:rPr>
              <a:t>Le modèle PPA ASPAN ENERGY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0876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F6F66"/>
                </a:solidFill>
                <a:latin typeface="Calibri"/>
              </a:rPr>
              <a:t>ASPAN ENERGY finance, installe, possède et exploite la centrale sur votre site. NESKAO ne paie que l'énergie solaire consommée.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377440"/>
            <a:ext cx="2606040" cy="26974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65176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334" y="2812694"/>
            <a:ext cx="409651" cy="4096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347472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3D24"/>
                </a:solidFill>
                <a:latin typeface="Cambria"/>
              </a:rPr>
              <a:t>Zéro investissement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06908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F6F66"/>
                </a:solidFill>
                <a:latin typeface="Calibri"/>
              </a:rPr>
              <a:t>100 % du financement porté par ASPAN ENERGY (études, équipements, travaux).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2377440"/>
            <a:ext cx="2606040" cy="26974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85032" y="265176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5966" y="2812694"/>
            <a:ext cx="409651" cy="40965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39312" y="347472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3D24"/>
                </a:solidFill>
                <a:latin typeface="Cambria"/>
              </a:rPr>
              <a:t>Zéro charge d'exploitation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406908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F6F66"/>
                </a:solidFill>
                <a:latin typeface="Calibri"/>
              </a:rPr>
              <a:t>Maintenance, assurance et monitoring inclus pendant 15 ans.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2377440"/>
            <a:ext cx="2606040" cy="26974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55664" y="265176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598" y="2812694"/>
            <a:ext cx="409651" cy="40965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09944" y="347472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3D24"/>
                </a:solidFill>
                <a:latin typeface="Cambria"/>
              </a:rPr>
              <a:t>Paiement à la consommation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406908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F6F66"/>
                </a:solidFill>
                <a:latin typeface="Calibri"/>
              </a:rPr>
              <a:t>Facturation mensuelle des seuls kWh solaires livrés, compteur certifié.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976" y="2377440"/>
            <a:ext cx="2606040" cy="26974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26296" y="265176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7230" y="2812694"/>
            <a:ext cx="409651" cy="40965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80576" y="347472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3D24"/>
                </a:solidFill>
                <a:latin typeface="Cambria"/>
              </a:rPr>
              <a:t>Remise garantie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0576" y="4069080"/>
            <a:ext cx="21488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F6F66"/>
                </a:solidFill>
                <a:latin typeface="Calibri"/>
              </a:rPr>
              <a:t>Tarif solaire contractuellement inférieur de 20 % au tarif de jour CIE.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ASPAN ENERGY CI  -  Offre NESKAO  -  Juin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0080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F3D24"/>
                </a:solidFill>
                <a:latin typeface="Cambria"/>
              </a:rPr>
              <a:t>Solution solaire proposée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3502152" cy="141732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64792"/>
            <a:ext cx="3044952" cy="7086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7A43"/>
                </a:solidFill>
                <a:latin typeface="Cambria"/>
              </a:rPr>
              <a:t>600 kWc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2507284"/>
            <a:ext cx="3044952" cy="4535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Puissance installée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5112" y="1600200"/>
            <a:ext cx="3502152" cy="141732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764792"/>
            <a:ext cx="3044952" cy="7086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7A43"/>
                </a:solidFill>
                <a:latin typeface="Cambria"/>
              </a:rPr>
              <a:t>1 000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07284"/>
            <a:ext cx="3044952" cy="4535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Modules photovoltaïques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600200"/>
            <a:ext cx="3502152" cy="141732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8744" y="1764792"/>
            <a:ext cx="3044952" cy="7086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B7A43"/>
                </a:solidFill>
                <a:latin typeface="Cambria"/>
              </a:rPr>
              <a:t>870 000 kWh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2" y="2507284"/>
            <a:ext cx="3044952" cy="4535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Production estimée / 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3D24"/>
                </a:solidFill>
                <a:latin typeface="Cambria"/>
              </a:rPr>
              <a:t>Logique de dimensionnement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49039"/>
            <a:ext cx="5486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F6F66"/>
                </a:solidFill>
                <a:latin typeface="Calibri"/>
              </a:rPr>
              <a:t>Puissance = minimum entre la toiture (598 kWc), le raccordement (1 000 kWc) et la consommation de journée (1 445 kWc).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F6F66"/>
                </a:solidFill>
                <a:latin typeface="Calibri"/>
              </a:rPr>
              <a:t>Facteur limitant : surface de toiture.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246120"/>
            <a:ext cx="5120640" cy="260604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3383280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0" y="34290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3D24"/>
                </a:solidFill>
                <a:latin typeface="Cambria"/>
              </a:rPr>
              <a:t>Caractéristiques techniques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0" y="3959352"/>
            <a:ext cx="128016" cy="128016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9168" y="3886200"/>
            <a:ext cx="4206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3D24"/>
                </a:solidFill>
                <a:latin typeface="Calibri"/>
              </a:rPr>
              <a:t>Surface de toiture exploitee : 5 149 m2</a:t>
            </a:r>
          </a:p>
        </p:txBody>
      </p:sp>
      <p:sp>
        <p:nvSpPr>
          <p:cNvPr id="19" name="Oval 18"/>
          <p:cNvSpPr/>
          <p:nvPr/>
        </p:nvSpPr>
        <p:spPr>
          <a:xfrm>
            <a:off x="6766560" y="4325112"/>
            <a:ext cx="128016" cy="128016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9168" y="4251960"/>
            <a:ext cx="4206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3D24"/>
                </a:solidFill>
                <a:latin typeface="Calibri"/>
              </a:rPr>
              <a:t>Modules monocristallins haut rendement + onduleurs string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0" y="4690872"/>
            <a:ext cx="128016" cy="128016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59168" y="4617720"/>
            <a:ext cx="4206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3D24"/>
                </a:solidFill>
                <a:latin typeface="Calibri"/>
              </a:rPr>
              <a:t>Autoconsommation sur site, en complément du réseau</a:t>
            </a:r>
          </a:p>
        </p:txBody>
      </p:sp>
      <p:sp>
        <p:nvSpPr>
          <p:cNvPr id="23" name="Oval 22"/>
          <p:cNvSpPr/>
          <p:nvPr/>
        </p:nvSpPr>
        <p:spPr>
          <a:xfrm>
            <a:off x="6766560" y="5056632"/>
            <a:ext cx="128016" cy="128016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9168" y="4983480"/>
            <a:ext cx="4206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3D24"/>
                </a:solidFill>
                <a:latin typeface="Calibri"/>
              </a:rPr>
              <a:t>Comptage certifié de l'énergie livrée</a:t>
            </a:r>
          </a:p>
        </p:txBody>
      </p:sp>
      <p:sp>
        <p:nvSpPr>
          <p:cNvPr id="25" name="Oval 24"/>
          <p:cNvSpPr/>
          <p:nvPr/>
        </p:nvSpPr>
        <p:spPr>
          <a:xfrm>
            <a:off x="6766560" y="5422392"/>
            <a:ext cx="128016" cy="128016"/>
          </a:xfrm>
          <a:prstGeom prst="ellipse">
            <a:avLst/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59168" y="5349240"/>
            <a:ext cx="4206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F3D24"/>
                </a:solidFill>
                <a:latin typeface="Calibri"/>
              </a:rPr>
              <a:t>Monitoring de production en temps réel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008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ASPAN ENERGY CI  -  Offre NESKAO  -  Juin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94415" y="640080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F3D24"/>
                </a:solidFill>
                <a:latin typeface="Cambria"/>
              </a:rPr>
              <a:t>Étude de faisabilité technique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7" y="1572768"/>
            <a:ext cx="54864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0200" y="1463040"/>
            <a:ext cx="97840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F3D24"/>
                </a:solidFill>
                <a:latin typeface="Cambria"/>
              </a:rPr>
              <a:t>Le projet de centrale solaire de 600 kWc pour NESKAO est techniquement realisable et pertinent.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50592"/>
            <a:ext cx="3462528" cy="10972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15184"/>
            <a:ext cx="3005328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7A43"/>
                </a:solidFill>
                <a:latin typeface="Cambria"/>
              </a:rPr>
              <a:t>1 250 kVA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3152851"/>
            <a:ext cx="3005328" cy="3511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Transformateur CIE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9496" y="2450592"/>
            <a:ext cx="3462528" cy="10972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8096" y="2615184"/>
            <a:ext cx="3005328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7A43"/>
                </a:solidFill>
                <a:latin typeface="Cambria"/>
              </a:rPr>
              <a:t>1 100 kW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6384" y="3152851"/>
            <a:ext cx="3005328" cy="3511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Groupe de secours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8911" y="2450592"/>
            <a:ext cx="3462528" cy="10972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7511" y="2615184"/>
            <a:ext cx="3005328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7A43"/>
                </a:solidFill>
                <a:latin typeface="Cambria"/>
              </a:rPr>
              <a:t>1 000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5799" y="3152851"/>
            <a:ext cx="3005328" cy="3511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Modules PV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6732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3D24"/>
                </a:solidFill>
                <a:latin typeface="Calibri"/>
              </a:rPr>
              <a:t>Répartition de la puissance par bâtiment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" y="4114800"/>
          <a:ext cx="7863840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103120"/>
                <a:gridCol w="2103120"/>
              </a:tblGrid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Bâtiment</a:t>
                      </a:r>
                    </a:p>
                  </a:txBody>
                  <a:tcPr anchor="ctr" marL="82296" marR="82296" marT="0" marB="0">
                    <a:solidFill>
                      <a:srgbClr val="0F3D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Surface</a:t>
                      </a:r>
                    </a:p>
                  </a:txBody>
                  <a:tcPr anchor="ctr" marL="82296" marR="82296" marT="0" marB="0">
                    <a:solidFill>
                      <a:srgbClr val="0F3D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Puissance</a:t>
                      </a:r>
                    </a:p>
                  </a:txBody>
                  <a:tcPr anchor="ctr" marL="82296" marR="82296" marT="0" marB="0">
                    <a:solidFill>
                      <a:srgbClr val="0F3D24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F3D24"/>
                          </a:solidFill>
                          <a:latin typeface="Calibri"/>
                        </a:rPr>
                        <a:t>Batiment T9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5F6F66"/>
                          </a:solidFill>
                          <a:latin typeface="Calibri"/>
                        </a:rPr>
                        <a:t>2 152 m2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B7A43"/>
                          </a:solidFill>
                          <a:latin typeface="Calibri"/>
                        </a:rPr>
                        <a:t>320 kWc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F3D24"/>
                          </a:solidFill>
                          <a:latin typeface="Calibri"/>
                        </a:rPr>
                        <a:t>Chambre Froide / R1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5F6F66"/>
                          </a:solidFill>
                          <a:latin typeface="Calibri"/>
                        </a:rPr>
                        <a:t>768 m2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B7A43"/>
                          </a:solidFill>
                          <a:latin typeface="Calibri"/>
                        </a:rPr>
                        <a:t>130 kWc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F3D24"/>
                          </a:solidFill>
                          <a:latin typeface="Calibri"/>
                        </a:rPr>
                        <a:t>Nettoyage &amp; Stockage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5F6F66"/>
                          </a:solidFill>
                          <a:latin typeface="Calibri"/>
                        </a:rPr>
                        <a:t>829 m2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B7A43"/>
                          </a:solidFill>
                          <a:latin typeface="Calibri"/>
                        </a:rPr>
                        <a:t>110 kWc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0F3D24"/>
                          </a:solidFill>
                          <a:latin typeface="Calibri"/>
                        </a:rPr>
                        <a:t>Torrefaction / Decort.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0">
                          <a:solidFill>
                            <a:srgbClr val="5F6F66"/>
                          </a:solidFill>
                          <a:latin typeface="Calibri"/>
                        </a:rPr>
                        <a:t>1 400 m2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50" b="1">
                          <a:solidFill>
                            <a:srgbClr val="1B7A43"/>
                          </a:solidFill>
                          <a:latin typeface="Calibri"/>
                        </a:rPr>
                        <a:t>40 kWc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3D24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82296" marR="82296" marT="0" marB="0">
                    <a:solidFill>
                      <a:srgbClr val="D9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F3D24"/>
                          </a:solidFill>
                          <a:latin typeface="Calibri"/>
                        </a:rPr>
                        <a:t>5 149 m2</a:t>
                      </a:r>
                    </a:p>
                  </a:txBody>
                  <a:tcPr anchor="ctr" marL="82296" marR="82296" marT="0" marB="0">
                    <a:solidFill>
                      <a:srgbClr val="D9EB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B7A43"/>
                          </a:solidFill>
                          <a:latin typeface="Calibri"/>
                        </a:rPr>
                        <a:t>600 kWc</a:t>
                      </a:r>
                    </a:p>
                  </a:txBody>
                  <a:tcPr anchor="ctr" marL="82296" marR="82296" marT="0" marB="0">
                    <a:solidFill>
                      <a:srgbClr val="D9EBD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8686800" y="4114800"/>
            <a:ext cx="2834640" cy="1783080"/>
          </a:xfrm>
          <a:prstGeom prst="roundRect">
            <a:avLst>
              <a:gd name="adj" fmla="val 6000"/>
            </a:avLst>
          </a:prstGeom>
          <a:solidFill>
            <a:srgbClr val="0F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427939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B705"/>
                </a:solidFill>
                <a:latin typeface="Calibri"/>
              </a:rPr>
              <a:t>Audit réalisé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4700016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D9E5DD"/>
                </a:solidFill>
                <a:latin typeface="Calibri"/>
              </a:rPr>
              <a:t>Visite technique et expertise du site effectuées.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548640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Valide par ADIOBY David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ASPAN ENERGY CI  -  Offre NESKAO  -  Juin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F3D24"/>
                </a:solidFill>
                <a:latin typeface="Cambria"/>
              </a:rPr>
              <a:t>Substitution du réseau CIE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F6F66"/>
                </a:solidFill>
                <a:latin typeface="Calibri"/>
              </a:rPr>
              <a:t>La consommation de journée est aujourd'hui fournie par le réseau CIE (83.87 FCFA/kWh). Le solaire la remplace au tarif ASPAN (67.10 FCFA/kWh).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3502152" cy="15544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50592"/>
            <a:ext cx="3044952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7A43"/>
                </a:solidFill>
                <a:latin typeface="Cambria"/>
              </a:rPr>
              <a:t>1,2 M FCFA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280867"/>
            <a:ext cx="3044952" cy="4974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Économie mensuelle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2286000"/>
            <a:ext cx="3502152" cy="15544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2450592"/>
            <a:ext cx="3044952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B7A43"/>
                </a:solidFill>
                <a:latin typeface="Cambria"/>
              </a:rPr>
              <a:t>14,6 M FCFA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280867"/>
            <a:ext cx="3044952" cy="4974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Économie annuelle estimée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2286000"/>
            <a:ext cx="3502152" cy="1554480"/>
          </a:xfrm>
          <a:prstGeom prst="roundRect">
            <a:avLst>
              <a:gd name="adj" fmla="val 6000"/>
            </a:avLst>
          </a:prstGeom>
          <a:solidFill>
            <a:srgbClr val="0F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38744" y="2450592"/>
            <a:ext cx="3044952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2B705"/>
                </a:solidFill>
                <a:latin typeface="Cambria"/>
              </a:rPr>
              <a:t>218,8 M FCFA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32" y="3280867"/>
            <a:ext cx="3044952" cy="4974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Économie cumulée 15 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3D24"/>
                </a:solidFill>
                <a:latin typeface="Calibri"/>
              </a:rPr>
              <a:t>Comparaison du coût du kWh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F3D24"/>
                </a:solidFill>
                <a:latin typeface="Calibri"/>
              </a:rPr>
              <a:t>Coût actuel (référence)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4690872"/>
            <a:ext cx="6400800" cy="310896"/>
          </a:xfrm>
          <a:prstGeom prst="roundRect">
            <a:avLst>
              <a:gd name="adj" fmla="val 4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0" y="466344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85042"/>
                </a:solidFill>
                <a:latin typeface="Calibri"/>
              </a:rPr>
              <a:t>83.87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66359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F3D24"/>
                </a:solidFill>
                <a:latin typeface="Calibri"/>
              </a:rPr>
              <a:t>Tarif solaire ASPAN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5193792"/>
            <a:ext cx="5120945" cy="310896"/>
          </a:xfrm>
          <a:prstGeom prst="roundRect">
            <a:avLst>
              <a:gd name="adj" fmla="val 4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7145" y="5166359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7A43"/>
                </a:solidFill>
                <a:latin typeface="Calibri"/>
              </a:rPr>
              <a:t>67.10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7A43"/>
                </a:solidFill>
                <a:latin typeface="Calibri"/>
              </a:rPr>
              <a:t>Soit -20% sur le coût du kWh substitué par le solaire.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ASPAN ENERGY CI  -  Offre NESKAO  -  Juin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F3D24"/>
                </a:solidFill>
                <a:latin typeface="Cambria"/>
              </a:rPr>
              <a:t>Exploitation Réseau + Groupe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5F6F66"/>
                </a:solidFill>
                <a:latin typeface="Calibri"/>
              </a:rPr>
              <a:t>Hypothèse : 50% réseau / 50% groupe électrogène (gasoil 700 FCFA/l, 0.3 l/kWh, soit 210 FCFA/kWh). Le solaire remplace ce mix à 67.10 FCFA/kWh.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3502152" cy="15544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50592"/>
            <a:ext cx="3044952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B7A43"/>
                </a:solidFill>
                <a:latin typeface="Cambria"/>
              </a:rPr>
              <a:t>5,8 M FCFA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3280867"/>
            <a:ext cx="3044952" cy="4974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Économie mensuelle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5112" y="2286000"/>
            <a:ext cx="3502152" cy="15544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2450592"/>
            <a:ext cx="3044952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B7A43"/>
                </a:solidFill>
                <a:latin typeface="Cambria"/>
              </a:rPr>
              <a:t>69,5 M FCFA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280867"/>
            <a:ext cx="3044952" cy="4974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Économie annuelle estimée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2286000"/>
            <a:ext cx="3502152" cy="1554480"/>
          </a:xfrm>
          <a:prstGeom prst="roundRect">
            <a:avLst>
              <a:gd name="adj" fmla="val 6000"/>
            </a:avLst>
          </a:prstGeom>
          <a:solidFill>
            <a:srgbClr val="0F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38744" y="2450592"/>
            <a:ext cx="3044952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2B705"/>
                </a:solidFill>
                <a:latin typeface="Cambria"/>
              </a:rPr>
              <a:t>1,04 Md FCFA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57032" y="3280867"/>
            <a:ext cx="3044952" cy="4974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Économie cumulée 15 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F3D24"/>
                </a:solidFill>
                <a:latin typeface="Calibri"/>
              </a:rPr>
              <a:t>Comparaison du coût du kWh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F3D24"/>
                </a:solidFill>
                <a:latin typeface="Calibri"/>
              </a:rPr>
              <a:t>Coût actuel (référence)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4690872"/>
            <a:ext cx="6400800" cy="310896"/>
          </a:xfrm>
          <a:prstGeom prst="roundRect">
            <a:avLst>
              <a:gd name="adj" fmla="val 40000"/>
            </a:avLst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0" y="4663440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B85042"/>
                </a:solidFill>
                <a:latin typeface="Calibri"/>
              </a:rPr>
              <a:t>146.94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66359"/>
            <a:ext cx="30175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F3D24"/>
                </a:solidFill>
                <a:latin typeface="Calibri"/>
              </a:rPr>
              <a:t>Tarif solaire ASPAN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5193792"/>
            <a:ext cx="2922918" cy="310896"/>
          </a:xfrm>
          <a:prstGeom prst="roundRect">
            <a:avLst>
              <a:gd name="adj" fmla="val 40000"/>
            </a:avLst>
          </a:prstGeom>
          <a:solidFill>
            <a:srgbClr val="1B7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9118" y="5166359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7A43"/>
                </a:solidFill>
                <a:latin typeface="Calibri"/>
              </a:rPr>
              <a:t>67.10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7A43"/>
                </a:solidFill>
                <a:latin typeface="Calibri"/>
              </a:rPr>
              <a:t>Soit -54% sur le coût du kWh substitué par le solaire.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ASPAN ENERGY CI  -  Offre NESKAO  -  Juin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0080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F3D24"/>
                </a:solidFill>
                <a:latin typeface="Cambria"/>
              </a:rPr>
              <a:t>Économies cumulées sur 15 ans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645920"/>
          <a:ext cx="109728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F6F66"/>
                </a:solidFill>
                <a:latin typeface="Calibri"/>
              </a:rPr>
              <a:t>Économies cumulées en millions de FCFA (HT).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ASPAN ENERGY CI  -  Offre NESKAO  -  Juin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F3D24"/>
                </a:solidFill>
                <a:latin typeface="Cambria"/>
              </a:rPr>
              <a:t>Analyse financière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0F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19072"/>
            <a:ext cx="3044952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F2B705"/>
                </a:solidFill>
                <a:latin typeface="Cambria"/>
              </a:rPr>
              <a:t>130,7 M FCFA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2432304"/>
            <a:ext cx="30449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Calibri"/>
              </a:rPr>
              <a:t>VAN des économies (15 ans)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5112" y="155448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719072"/>
            <a:ext cx="3044952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7A43"/>
                </a:solidFill>
                <a:latin typeface="Cambria"/>
              </a:rPr>
              <a:t>28%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432304"/>
            <a:ext cx="30449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de la consommation couverte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554480"/>
            <a:ext cx="3502152" cy="137160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38744" y="1719072"/>
            <a:ext cx="3044952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1B7A43"/>
                </a:solidFill>
                <a:latin typeface="Cambria"/>
              </a:rPr>
              <a:t>14,6 M FCFA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7032" y="2432304"/>
            <a:ext cx="304495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F6F66"/>
                </a:solidFill>
                <a:latin typeface="Calibri"/>
              </a:rPr>
              <a:t>Économie annuelle (an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F3D24"/>
                </a:solidFill>
                <a:latin typeface="Cambria"/>
              </a:rPr>
              <a:t>Hypothèses &amp;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49377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F6F66"/>
                </a:solidFill>
                <a:latin typeface="Calibri"/>
              </a:rPr>
              <a:t>Taux d'actualisation : 10%  -  escalade tarif CIE : 3%/an.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F6F66"/>
                </a:solidFill>
                <a:latin typeface="Calibri"/>
              </a:rPr>
              <a:t>Coût actuel de cette énergie : 73,0 M FCFA/an.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F6F66"/>
                </a:solidFill>
                <a:latin typeface="Calibri"/>
              </a:rPr>
              <a:t>Coût sous PPA ASPAN : 58,4 M FCFA/an.</a:t>
            </a:r>
          </a:p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F6F66"/>
                </a:solidFill>
                <a:latin typeface="Calibri"/>
              </a:rPr>
              <a:t>Impact CO2 évité : 478 t/an (~7 178 t sur 15 ans).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852160" y="3310128"/>
          <a:ext cx="566928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194560"/>
                <a:gridCol w="2194560"/>
              </a:tblGrid>
              <a:tr h="2997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Année</a:t>
                      </a:r>
                    </a:p>
                  </a:txBody>
                  <a:tcPr anchor="ctr" marL="82296" marR="82296" marT="0" marB="0">
                    <a:solidFill>
                      <a:srgbClr val="0F3D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Économie/an</a:t>
                      </a:r>
                    </a:p>
                  </a:txBody>
                  <a:tcPr anchor="ctr" marL="82296" marR="82296" marT="0" marB="0">
                    <a:solidFill>
                      <a:srgbClr val="0F3D2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Cumul</a:t>
                      </a:r>
                    </a:p>
                  </a:txBody>
                  <a:tcPr anchor="ctr" marL="82296" marR="82296" marT="0" marB="0">
                    <a:solidFill>
                      <a:srgbClr val="0F3D24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3D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F6F66"/>
                          </a:solidFill>
                          <a:latin typeface="Calibri"/>
                        </a:rPr>
                        <a:t>14,6 M FCFA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B7A43"/>
                          </a:solidFill>
                          <a:latin typeface="Calibri"/>
                        </a:rPr>
                        <a:t>14,6 M FCFA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3D2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F6F66"/>
                          </a:solidFill>
                          <a:latin typeface="Calibri"/>
                        </a:rPr>
                        <a:t>15,5 M FCFA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B7A43"/>
                          </a:solidFill>
                          <a:latin typeface="Calibri"/>
                        </a:rPr>
                        <a:t>45,1 M FCFA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3D2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F6F66"/>
                          </a:solidFill>
                          <a:latin typeface="Calibri"/>
                        </a:rPr>
                        <a:t>16,4 M FCFA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B7A43"/>
                          </a:solidFill>
                          <a:latin typeface="Calibri"/>
                        </a:rPr>
                        <a:t>77,5 M FCFA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3D2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F6F66"/>
                          </a:solidFill>
                          <a:latin typeface="Calibri"/>
                        </a:rPr>
                        <a:t>17,4 M FCFA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B7A43"/>
                          </a:solidFill>
                          <a:latin typeface="Calibri"/>
                        </a:rPr>
                        <a:t>111,8 M FCFA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3D2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F6F66"/>
                          </a:solidFill>
                          <a:latin typeface="Calibri"/>
                        </a:rPr>
                        <a:t>18,5 M FCFA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B7A43"/>
                          </a:solidFill>
                          <a:latin typeface="Calibri"/>
                        </a:rPr>
                        <a:t>148,2 M FCFA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3D24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F6F66"/>
                          </a:solidFill>
                          <a:latin typeface="Calibri"/>
                        </a:rPr>
                        <a:t>19,6 M FCFA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B7A43"/>
                          </a:solidFill>
                          <a:latin typeface="Calibri"/>
                        </a:rPr>
                        <a:t>186,9 M FCFA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3D24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F6F66"/>
                          </a:solidFill>
                          <a:latin typeface="Calibri"/>
                        </a:rPr>
                        <a:t>20,8 M FCFA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B7A43"/>
                          </a:solidFill>
                          <a:latin typeface="Calibri"/>
                        </a:rPr>
                        <a:t>227,9 M FCFA</a:t>
                      </a:r>
                    </a:p>
                  </a:txBody>
                  <a:tcPr anchor="ctr" marL="82296" marR="82296" marT="0" marB="0">
                    <a:solidFill>
                      <a:srgbClr val="EDF6F0"/>
                    </a:solidFill>
                  </a:tcPr>
                </a:tc>
              </a:tr>
              <a:tr h="2997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F3D24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5F6F66"/>
                          </a:solidFill>
                          <a:latin typeface="Calibri"/>
                        </a:rPr>
                        <a:t>22,1 M FCFA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1B7A43"/>
                          </a:solidFill>
                          <a:latin typeface="Calibri"/>
                        </a:rPr>
                        <a:t>271,4 M FCFA</a:t>
                      </a:r>
                    </a:p>
                  </a:txBody>
                  <a:tcPr anchor="ctr" marL="82296" marR="82296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40080" y="64008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ASPAN ENERGY CI  -  Offre NESKAO  -  Juin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0080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F3D24"/>
                </a:solidFill>
                <a:latin typeface="Cambria"/>
              </a:rPr>
              <a:t>Prestations incluses pendant 15 ans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91640"/>
            <a:ext cx="3529584" cy="17830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00" y="2086660"/>
            <a:ext cx="307238" cy="3072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00200" y="1984248"/>
            <a:ext cx="23865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3D24"/>
                </a:solidFill>
                <a:latin typeface="Cambria"/>
              </a:rPr>
              <a:t>Études &amp; ingénierie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9809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F6F66"/>
                </a:solidFill>
                <a:latin typeface="Calibri"/>
              </a:rPr>
              <a:t>Faisabilité, dimensionnement, ingénierie détaillée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691640"/>
            <a:ext cx="3529584" cy="17830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26864" y="19659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564" y="2086660"/>
            <a:ext cx="307238" cy="3072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12664" y="1984248"/>
            <a:ext cx="23865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3D24"/>
                </a:solidFill>
                <a:latin typeface="Cambria"/>
              </a:rPr>
              <a:t>Installation clé en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651760"/>
            <a:ext cx="29809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F6F66"/>
                </a:solidFill>
                <a:latin typeface="Calibri"/>
              </a:rPr>
              <a:t>Fourniture, travaux et mise en service, garanties constructeur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7" y="1691640"/>
            <a:ext cx="3529584" cy="17830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39327" y="1965960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0028" y="2086660"/>
            <a:ext cx="307238" cy="30723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25128" y="1984248"/>
            <a:ext cx="23865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3D24"/>
                </a:solidFill>
                <a:latin typeface="Cambria"/>
              </a:rPr>
              <a:t>Exploitation &amp; maintenance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651760"/>
            <a:ext cx="29809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F6F66"/>
                </a:solidFill>
                <a:latin typeface="Calibri"/>
              </a:rPr>
              <a:t>Maintenance préventive et curative pendant tout le PPA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75887"/>
            <a:ext cx="3529584" cy="17830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3950207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00" y="4070908"/>
            <a:ext cx="307238" cy="30723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00200" y="3968496"/>
            <a:ext cx="23865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3D24"/>
                </a:solidFill>
                <a:latin typeface="Cambria"/>
              </a:rPr>
              <a:t>Assurance tous risques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636007"/>
            <a:ext cx="29809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F6F66"/>
                </a:solidFill>
                <a:latin typeface="Calibri"/>
              </a:rPr>
              <a:t>Couverture complète de l'installation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52544" y="3675887"/>
            <a:ext cx="3529584" cy="17830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26864" y="3950207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7564" y="4070908"/>
            <a:ext cx="307238" cy="30723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12664" y="3968496"/>
            <a:ext cx="23865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3D24"/>
                </a:solidFill>
                <a:latin typeface="Cambria"/>
              </a:rPr>
              <a:t>Monitoring temps réel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4636007"/>
            <a:ext cx="29809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F6F66"/>
                </a:solidFill>
                <a:latin typeface="Calibri"/>
              </a:rPr>
              <a:t>Suivi de production accessible au client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5007" y="3675887"/>
            <a:ext cx="3529584" cy="1783080"/>
          </a:xfrm>
          <a:prstGeom prst="roundRect">
            <a:avLst>
              <a:gd name="adj" fmla="val 6000"/>
            </a:avLst>
          </a:prstGeom>
          <a:solidFill>
            <a:srgbClr val="ED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39327" y="3950207"/>
            <a:ext cx="548640" cy="548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0028" y="4070908"/>
            <a:ext cx="307238" cy="30723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025128" y="3968496"/>
            <a:ext cx="23865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3D24"/>
                </a:solidFill>
                <a:latin typeface="Cambria"/>
              </a:rPr>
              <a:t>Comptage certifié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4636007"/>
            <a:ext cx="29809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F6F66"/>
                </a:solidFill>
                <a:latin typeface="Calibri"/>
              </a:rPr>
              <a:t>Mesure de l'énergie livrée, base de la facturation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0080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ASPAN ENERGY CI  -  Offre NESKAO  -  Juin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94415" y="640080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F6F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D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55279" y="2926080"/>
            <a:ext cx="6035040" cy="6035040"/>
          </a:xfrm>
          <a:prstGeom prst="ellipse">
            <a:avLst/>
          </a:prstGeom>
          <a:solidFill>
            <a:srgbClr val="1C4F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FFFFFF"/>
                </a:solidFill>
                <a:latin typeface="Cambria"/>
              </a:rPr>
              <a:t>Prochaines étapes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F3D24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099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Audit énergétique et visite technique du site  (effectue)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441448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F3D24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59736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Analyse des 12 dernières factures CIE et calage du tarif contractuel  (effectue)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191256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F3D24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09544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Signature du contrat PPA 15 ans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941063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F3D24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959351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Calibri"/>
              </a:rPr>
              <a:t>Installation en 2 à 3 mois, mise en service et premières économies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749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Abdoulaye OUATTARA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9E5DD"/>
                </a:solidFill>
                <a:latin typeface="Calibri"/>
              </a:rPr>
              <a:t>Directeur Général – ASPAN ENERGY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521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D9E5DD"/>
                </a:solidFill>
                <a:latin typeface="Calibri"/>
              </a:rPr>
              <a:t>abdoulaye@aspanenergy.com   -   Cocody Bonoumin, Abidjan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9963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A9C2B4"/>
                </a:solidFill>
                <a:latin typeface="Calibri"/>
              </a:rPr>
              <a:t>Offre indicative valable 90 jours - Ref. OF-NESKAO-2026-001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