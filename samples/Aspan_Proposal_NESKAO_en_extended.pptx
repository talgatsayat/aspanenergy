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Grid Replacement</c:v>
                </c:pt>
              </c:strCache>
            </c:strRef>
          </c:tx>
          <c:spPr>
            <a:ln w="31750">
              <a:solidFill>
                <a:srgbClr val="1B7A43"/>
              </a:solidFill>
            </a:ln>
          </c:spP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14.6</c:v>
                </c:pt>
                <c:pt idx="1">
                  <c:v>29.2</c:v>
                </c:pt>
                <c:pt idx="2">
                  <c:v>43.8</c:v>
                </c:pt>
                <c:pt idx="3">
                  <c:v>58.4</c:v>
                </c:pt>
                <c:pt idx="4">
                  <c:v>72.9</c:v>
                </c:pt>
                <c:pt idx="5">
                  <c:v>87.5</c:v>
                </c:pt>
                <c:pt idx="6">
                  <c:v>102.1</c:v>
                </c:pt>
                <c:pt idx="7">
                  <c:v>116.7</c:v>
                </c:pt>
                <c:pt idx="8">
                  <c:v>131.3</c:v>
                </c:pt>
                <c:pt idx="9">
                  <c:v>145.9</c:v>
                </c:pt>
                <c:pt idx="10">
                  <c:v>160.5</c:v>
                </c:pt>
                <c:pt idx="11">
                  <c:v>175.1</c:v>
                </c:pt>
                <c:pt idx="12">
                  <c:v>189.7</c:v>
                </c:pt>
                <c:pt idx="13">
                  <c:v>204.3</c:v>
                </c:pt>
                <c:pt idx="14">
                  <c:v>218.8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Grid + Diesel Operation</c:v>
                </c:pt>
              </c:strCache>
            </c:strRef>
          </c:tx>
          <c:spPr>
            <a:ln w="31750">
              <a:solidFill>
                <a:srgbClr val="F2B705"/>
              </a:solidFill>
            </a:ln>
          </c:spP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69.5</c:v>
                </c:pt>
                <c:pt idx="1">
                  <c:v>138.9</c:v>
                </c:pt>
                <c:pt idx="2">
                  <c:v>208.4</c:v>
                </c:pt>
                <c:pt idx="3">
                  <c:v>277.8</c:v>
                </c:pt>
                <c:pt idx="4">
                  <c:v>347.3</c:v>
                </c:pt>
                <c:pt idx="5">
                  <c:v>416.7</c:v>
                </c:pt>
                <c:pt idx="6">
                  <c:v>486.2</c:v>
                </c:pt>
                <c:pt idx="7">
                  <c:v>555.7</c:v>
                </c:pt>
                <c:pt idx="8">
                  <c:v>625.1</c:v>
                </c:pt>
                <c:pt idx="9">
                  <c:v>694.6</c:v>
                </c:pt>
                <c:pt idx="10">
                  <c:v>764.0</c:v>
                </c:pt>
                <c:pt idx="11">
                  <c:v>833.5</c:v>
                </c:pt>
                <c:pt idx="12">
                  <c:v>902.9</c:v>
                </c:pt>
                <c:pt idx="13">
                  <c:v>972.4</c:v>
                </c:pt>
                <c:pt idx="14">
                  <c:v>1041.8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F6F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F6F66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0F3D24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1920240"/>
            <a:ext cx="6400800" cy="6400800"/>
          </a:xfrm>
          <a:prstGeom prst="ellipse">
            <a:avLst/>
          </a:prstGeom>
          <a:solidFill>
            <a:srgbClr val="1C4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37360" y="4297680"/>
            <a:ext cx="3383280" cy="3383280"/>
          </a:xfrm>
          <a:prstGeom prst="ellipse">
            <a:avLst/>
          </a:prstGeom>
          <a:solidFill>
            <a:srgbClr val="1C4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685800"/>
            <a:ext cx="676656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80467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ASPAN ENERGY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Cambria"/>
              </a:rPr>
              <a:t>FINANCIAL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9184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D9E5DD"/>
                </a:solidFill>
                <a:latin typeface="Calibri"/>
              </a:rPr>
              <a:t>600 kWc solar PV plant for self-consumption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D9E5DD"/>
                </a:solidFill>
                <a:latin typeface="Calibri"/>
              </a:rPr>
              <a:t>Client: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4069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B705"/>
                </a:solidFill>
                <a:latin typeface="Calibri"/>
              </a:rPr>
              <a:t>NESKAO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069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D9E5DD"/>
                </a:solidFill>
                <a:latin typeface="Calibri"/>
              </a:rPr>
              <a:t>PPA Contract - 15 years     Ref. OF-NESKAO-2026-001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3949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1">
                <a:solidFill>
                  <a:srgbClr val="F2B705"/>
                </a:solidFill>
                <a:latin typeface="Calibri"/>
              </a:rPr>
              <a:t>Zero investment  •  Guaranteed savings  •  Clean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5F6F66"/>
                </a:solidFill>
                <a:latin typeface="Calibri"/>
              </a:rPr>
              <a:t>ASPAN ENERGY proposes to install and operate a 600 kWc self-consumption solar plant for NESKAO, with zero investment. You only pay for the solar energy consumed, at a guaranteed tariff 20% below the CIE day tariff.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06324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227832"/>
            <a:ext cx="2148840" cy="8001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600 kWc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4087368"/>
            <a:ext cx="2148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Recommended capacity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306324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3227832"/>
            <a:ext cx="2148840" cy="8001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870 000 kWh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087368"/>
            <a:ext cx="2148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Solar production / yr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06324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3227832"/>
            <a:ext cx="2148840" cy="8001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14.6 M 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4087368"/>
            <a:ext cx="2148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Annual saving (Sc.1)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1976" y="306324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0F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576" y="3227832"/>
            <a:ext cx="2148840" cy="8001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2B705"/>
                </a:solidFill>
                <a:latin typeface="Cambria"/>
              </a:rPr>
              <a:t>218.8 M FCFA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4087368"/>
            <a:ext cx="2148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15-yr cumulative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0881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7A43"/>
                </a:solidFill>
                <a:latin typeface="Calibri"/>
              </a:rPr>
              <a:t>Guaranteed solar tariff: 67.10 FCFA/kWh, i.e. -20% on the CIE day tariff (83.87 FCFA/kWh).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NESKAO Proposal  - 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Current energy situation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64792"/>
            <a:ext cx="214884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256 816 kWh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536545"/>
            <a:ext cx="2148840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Avg consumption / 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6002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764792"/>
            <a:ext cx="214884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83.87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536545"/>
            <a:ext cx="2148840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CIE day tariff (FCFA/kWh)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002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764792"/>
            <a:ext cx="214884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258.5 M FCFA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536545"/>
            <a:ext cx="2148840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Estimated annual bill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1976" y="16002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0576" y="1764792"/>
            <a:ext cx="214884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536545"/>
            <a:ext cx="2148840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Bills analysed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24"/>
                </a:solidFill>
                <a:latin typeface="Calibri"/>
              </a:rPr>
              <a:t>Day / night split of consumption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7399324" cy="50292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886200"/>
            <a:ext cx="70335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D24"/>
                </a:solidFill>
                <a:latin typeface="Calibri"/>
              </a:rPr>
              <a:t>Day 68%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3886200"/>
            <a:ext cx="3427171" cy="502920"/>
          </a:xfrm>
          <a:prstGeom prst="roundRect">
            <a:avLst>
              <a:gd name="adj" fmla="val 50000"/>
            </a:avLst>
          </a:prstGeom>
          <a:solidFill>
            <a:srgbClr val="D9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8004" y="3886200"/>
            <a:ext cx="30248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D24"/>
                </a:solidFill>
                <a:latin typeface="Calibri"/>
              </a:rPr>
              <a:t>Night 32%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006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F6F66"/>
                </a:solidFill>
                <a:latin typeface="Calibri"/>
              </a:rPr>
              <a:t>Solar covers daytime consumption, where most industrial activity occurs. A diesel generator provides backup during grid outages.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NESKAO Proposal  - 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The ASPAN ENERGY PPA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F6F66"/>
                </a:solidFill>
                <a:latin typeface="Calibri"/>
              </a:rPr>
              <a:t>ASPAN ENERGY finances, installs, owns and operates the plant on your site. NESKAO only pays for the solar energy consumed.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2606040" cy="2697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6517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" y="2812694"/>
            <a:ext cx="409651" cy="4096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34747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Zero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100% financed by ASPAN ENERGY (studies, equipment, works).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377440"/>
            <a:ext cx="2606040" cy="2697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5032" y="26517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966" y="2812694"/>
            <a:ext cx="409651" cy="4096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39312" y="34747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Zero operating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40690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Maintenance, insurance and monitoring included for 15 years.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377440"/>
            <a:ext cx="2606040" cy="2697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55664" y="26517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598" y="2812694"/>
            <a:ext cx="409651" cy="4096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9944" y="34747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Pay per consumption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0690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Monthly billing of solar kWh delivered only, certified meter.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377440"/>
            <a:ext cx="2606040" cy="2697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26296" y="26517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230" y="2812694"/>
            <a:ext cx="409651" cy="40965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80576" y="34747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Guaranteed discount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40690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Solar tariff contractually 20% below the CIE day tariff.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NESKAO Proposal  - 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Proposed solar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502152" cy="141732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64792"/>
            <a:ext cx="3044952" cy="7086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600 kWc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507284"/>
            <a:ext cx="3044952" cy="4535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Installed capacity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1600200"/>
            <a:ext cx="3502152" cy="141732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764792"/>
            <a:ext cx="3044952" cy="7086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1 000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07284"/>
            <a:ext cx="3044952" cy="4535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PV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00200"/>
            <a:ext cx="3502152" cy="141732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764792"/>
            <a:ext cx="3044952" cy="7086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870 000 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2" y="2507284"/>
            <a:ext cx="3044952" cy="4535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Estimated production / 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Sizing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5486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F6F66"/>
                </a:solidFill>
                <a:latin typeface="Calibri"/>
              </a:rPr>
              <a:t>Capacity = minimum of roof (598 kWc), grid connection (1 000 kWc) and daytime consumption (1 445 kWc).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F6F66"/>
                </a:solidFill>
                <a:latin typeface="Calibri"/>
              </a:rPr>
              <a:t>Binding constraint: roof area.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46120"/>
            <a:ext cx="5120640" cy="260604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338328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0" y="34290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Technical characteristics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3959352"/>
            <a:ext cx="128016" cy="128016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3886200"/>
            <a:ext cx="4206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3D24"/>
                </a:solidFill>
                <a:latin typeface="Calibri"/>
              </a:rPr>
              <a:t>Roof area used: 5 149 m2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4325112"/>
            <a:ext cx="128016" cy="128016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8" y="4251960"/>
            <a:ext cx="4206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3D24"/>
                </a:solidFill>
                <a:latin typeface="Calibri"/>
              </a:rPr>
              <a:t>High-efficiency monocrystalline modules + string inverters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4690872"/>
            <a:ext cx="128016" cy="128016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9168" y="4617720"/>
            <a:ext cx="4206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3D24"/>
                </a:solidFill>
                <a:latin typeface="Calibri"/>
              </a:rPr>
              <a:t>On-site self-consumption, complementing the grid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5056632"/>
            <a:ext cx="128016" cy="128016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4983480"/>
            <a:ext cx="4206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3D24"/>
                </a:solidFill>
                <a:latin typeface="Calibri"/>
              </a:rPr>
              <a:t>Certified metering of delivered energy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5422392"/>
            <a:ext cx="128016" cy="128016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5349240"/>
            <a:ext cx="4206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3D24"/>
                </a:solidFill>
                <a:latin typeface="Calibri"/>
              </a:rPr>
              <a:t>Real-time production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NESKAO Proposal  - 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Technical feasibility study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157276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146304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Le projet de centrale solaire de 600 kWc pour NESKAO est techniquement realisable et pertinent.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50592"/>
            <a:ext cx="3462528" cy="10972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15184"/>
            <a:ext cx="3005328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7A43"/>
                </a:solidFill>
                <a:latin typeface="Cambria"/>
              </a:rPr>
              <a:t>1 250 kVA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152851"/>
            <a:ext cx="3005328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CIE transformer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9496" y="2450592"/>
            <a:ext cx="3462528" cy="10972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8096" y="2615184"/>
            <a:ext cx="3005328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7A43"/>
                </a:solidFill>
                <a:latin typeface="Cambria"/>
              </a:rPr>
              <a:t>1 100 kW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6384" y="3152851"/>
            <a:ext cx="3005328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Backup generator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2450592"/>
            <a:ext cx="3462528" cy="10972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7511" y="2615184"/>
            <a:ext cx="3005328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1 000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799" y="3152851"/>
            <a:ext cx="3005328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PV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67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24"/>
                </a:solidFill>
                <a:latin typeface="Calibri"/>
              </a:rPr>
              <a:t>Power allocation per building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4114800"/>
          <a:ext cx="786384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103120"/>
                <a:gridCol w="2103120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Building</a:t>
                      </a:r>
                    </a:p>
                  </a:txBody>
                  <a:tcPr anchor="ctr" marL="82296" marR="82296" marT="0" marB="0">
                    <a:solidFill>
                      <a:srgbClr val="0F3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anchor="ctr" marL="82296" marR="82296" marT="0" marB="0">
                    <a:solidFill>
                      <a:srgbClr val="0F3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Capacity</a:t>
                      </a:r>
                    </a:p>
                  </a:txBody>
                  <a:tcPr anchor="ctr" marL="82296" marR="82296" marT="0" marB="0">
                    <a:solidFill>
                      <a:srgbClr val="0F3D24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3D24"/>
                          </a:solidFill>
                          <a:latin typeface="Calibri"/>
                        </a:rPr>
                        <a:t>Batiment T9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5F6F66"/>
                          </a:solidFill>
                          <a:latin typeface="Calibri"/>
                        </a:rPr>
                        <a:t>2 152 m2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B7A43"/>
                          </a:solidFill>
                          <a:latin typeface="Calibri"/>
                        </a:rPr>
                        <a:t>320 kWc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3D24"/>
                          </a:solidFill>
                          <a:latin typeface="Calibri"/>
                        </a:rPr>
                        <a:t>Chambre Froide / R1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5F6F66"/>
                          </a:solidFill>
                          <a:latin typeface="Calibri"/>
                        </a:rPr>
                        <a:t>768 m2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B7A43"/>
                          </a:solidFill>
                          <a:latin typeface="Calibri"/>
                        </a:rPr>
                        <a:t>130 kWc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3D24"/>
                          </a:solidFill>
                          <a:latin typeface="Calibri"/>
                        </a:rPr>
                        <a:t>Nettoyage &amp; Stockage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5F6F66"/>
                          </a:solidFill>
                          <a:latin typeface="Calibri"/>
                        </a:rPr>
                        <a:t>829 m2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B7A43"/>
                          </a:solidFill>
                          <a:latin typeface="Calibri"/>
                        </a:rPr>
                        <a:t>110 kWc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3D24"/>
                          </a:solidFill>
                          <a:latin typeface="Calibri"/>
                        </a:rPr>
                        <a:t>Torrefaction / Decort.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5F6F66"/>
                          </a:solidFill>
                          <a:latin typeface="Calibri"/>
                        </a:rPr>
                        <a:t>1 400 m2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B7A43"/>
                          </a:solidFill>
                          <a:latin typeface="Calibri"/>
                        </a:rPr>
                        <a:t>40 kWc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3D24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82296" marR="82296" marT="0" marB="0">
                    <a:solidFill>
                      <a:srgbClr val="D9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F3D24"/>
                          </a:solidFill>
                          <a:latin typeface="Calibri"/>
                        </a:rPr>
                        <a:t>5 149 m2</a:t>
                      </a:r>
                    </a:p>
                  </a:txBody>
                  <a:tcPr anchor="ctr" marL="82296" marR="82296" marT="0" marB="0">
                    <a:solidFill>
                      <a:srgbClr val="D9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600 kWc</a:t>
                      </a:r>
                    </a:p>
                  </a:txBody>
                  <a:tcPr anchor="ctr" marL="82296" marR="82296" marT="0" marB="0">
                    <a:solidFill>
                      <a:srgbClr val="D9EBD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8686800" y="4114800"/>
            <a:ext cx="2834640" cy="1783080"/>
          </a:xfrm>
          <a:prstGeom prst="roundRect">
            <a:avLst>
              <a:gd name="adj" fmla="val 6000"/>
            </a:avLst>
          </a:prstGeom>
          <a:solidFill>
            <a:srgbClr val="0F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42793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705"/>
                </a:solidFill>
                <a:latin typeface="Calibri"/>
              </a:rPr>
              <a:t>Audit 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4700016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D9E5DD"/>
                </a:solidFill>
                <a:latin typeface="Calibri"/>
              </a:rPr>
              <a:t>Technical visit and site expertise completed.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54864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Validated by ADIOBY David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NESKAO Proposal  - 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Grid Replacement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F6F66"/>
                </a:solidFill>
                <a:latin typeface="Calibri"/>
              </a:rPr>
              <a:t>Daytime consumption is currently supplied by the CIE grid (83.87 FCFA/kWh). Solar replaces it at the ASPAN tariff (67.10 FCFA/kWh).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50592"/>
            <a:ext cx="3044952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7A43"/>
                </a:solidFill>
                <a:latin typeface="Cambria"/>
              </a:rPr>
              <a:t>1.2 M FCFA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280867"/>
            <a:ext cx="3044952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Monthly saving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2286000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450592"/>
            <a:ext cx="3044952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14.6 M FCFA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80867"/>
            <a:ext cx="3044952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Estimated annual saving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2286000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0F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2450592"/>
            <a:ext cx="3044952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2B705"/>
                </a:solidFill>
                <a:latin typeface="Cambria"/>
              </a:rPr>
              <a:t>218.8 M 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2" y="3280867"/>
            <a:ext cx="3044952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Cumulative 15-yr saving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24"/>
                </a:solidFill>
                <a:latin typeface="Calibri"/>
              </a:rPr>
              <a:t>Cost of kWh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F3D24"/>
                </a:solidFill>
                <a:latin typeface="Calibri"/>
              </a:rPr>
              <a:t>Current cost (baseline)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690872"/>
            <a:ext cx="6400800" cy="310896"/>
          </a:xfrm>
          <a:prstGeom prst="roundRect">
            <a:avLst>
              <a:gd name="adj" fmla="val 4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0" y="466344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5042"/>
                </a:solidFill>
                <a:latin typeface="Calibri"/>
              </a:rPr>
              <a:t>83.87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66359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F3D24"/>
                </a:solidFill>
                <a:latin typeface="Calibri"/>
              </a:rPr>
              <a:t>ASPAN solar tariff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5193792"/>
            <a:ext cx="5120945" cy="310896"/>
          </a:xfrm>
          <a:prstGeom prst="roundRect">
            <a:avLst>
              <a:gd name="adj" fmla="val 4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7145" y="5166359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7A43"/>
                </a:solidFill>
                <a:latin typeface="Calibri"/>
              </a:rPr>
              <a:t>67.10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7A43"/>
                </a:solidFill>
                <a:latin typeface="Calibri"/>
              </a:rPr>
              <a:t>That is -20% on the cost of each kWh replaced by solar.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NESKAO Proposal  - 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Grid + Diesel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F6F66"/>
                </a:solidFill>
                <a:latin typeface="Calibri"/>
              </a:rPr>
              <a:t>Assumption: 50% grid / 50% diesel generator (diesel 700 FCFA/l, 0.3 l/kWh, i.e. 210 FCFA/kWh). Solar replaces this mix at 67.10 FCFA/kWh.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50592"/>
            <a:ext cx="3044952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7A43"/>
                </a:solidFill>
                <a:latin typeface="Cambria"/>
              </a:rPr>
              <a:t>5.8 M FCFA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280867"/>
            <a:ext cx="3044952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Monthly saving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2286000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450592"/>
            <a:ext cx="3044952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69.5 M FCFA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80867"/>
            <a:ext cx="3044952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Estimated annual saving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2286000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0F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2450592"/>
            <a:ext cx="3044952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2B705"/>
                </a:solidFill>
                <a:latin typeface="Cambria"/>
              </a:rPr>
              <a:t>1.04 B 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2" y="3280867"/>
            <a:ext cx="3044952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Cumulative 15-yr saving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24"/>
                </a:solidFill>
                <a:latin typeface="Calibri"/>
              </a:rPr>
              <a:t>Cost of kWh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F3D24"/>
                </a:solidFill>
                <a:latin typeface="Calibri"/>
              </a:rPr>
              <a:t>Current cost (baseline)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690872"/>
            <a:ext cx="6400800" cy="310896"/>
          </a:xfrm>
          <a:prstGeom prst="roundRect">
            <a:avLst>
              <a:gd name="adj" fmla="val 4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0" y="466344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5042"/>
                </a:solidFill>
                <a:latin typeface="Calibri"/>
              </a:rPr>
              <a:t>146.94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66359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F3D24"/>
                </a:solidFill>
                <a:latin typeface="Calibri"/>
              </a:rPr>
              <a:t>ASPAN solar tariff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5193792"/>
            <a:ext cx="2922918" cy="310896"/>
          </a:xfrm>
          <a:prstGeom prst="roundRect">
            <a:avLst>
              <a:gd name="adj" fmla="val 4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118" y="5166359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7A43"/>
                </a:solidFill>
                <a:latin typeface="Calibri"/>
              </a:rPr>
              <a:t>67.10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7A43"/>
                </a:solidFill>
                <a:latin typeface="Calibri"/>
              </a:rPr>
              <a:t>That is -54% on the cost of each kWh replaced by solar.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NESKAO Proposal  - 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Cumulative savings over 15 years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645920"/>
          <a:ext cx="10972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F6F66"/>
                </a:solidFill>
                <a:latin typeface="Calibri"/>
              </a:rPr>
              <a:t>Cumulative savings in millions of FCFA (excl. tax).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NESKAO Proposal  -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Financial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0F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19072"/>
            <a:ext cx="3044952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2B705"/>
                </a:solidFill>
                <a:latin typeface="Cambria"/>
              </a:rPr>
              <a:t>130.7 M FCFA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432304"/>
            <a:ext cx="3044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NPV of savings (15 yr)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155448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719072"/>
            <a:ext cx="3044952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32304"/>
            <a:ext cx="3044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of consumption covered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55448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719072"/>
            <a:ext cx="3044952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14.6 M FCFA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2" y="2432304"/>
            <a:ext cx="3044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Annual saving (yr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Assumptions &amp;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4937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F6F66"/>
                </a:solidFill>
                <a:latin typeface="Calibri"/>
              </a:rPr>
              <a:t>Discount rate: 10%  -  CIE tariff escalation: 3%/yr.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F6F66"/>
                </a:solidFill>
                <a:latin typeface="Calibri"/>
              </a:rPr>
              <a:t>Current cost of this energy: 73.0 M FCFA/yr.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F6F66"/>
                </a:solidFill>
                <a:latin typeface="Calibri"/>
              </a:rPr>
              <a:t>Cost under the ASPAN PPA: 58.4 M FCFA/yr.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F6F66"/>
                </a:solidFill>
                <a:latin typeface="Calibri"/>
              </a:rPr>
              <a:t>CO2 avoided: 478 t/yr (~7 178 t over 15 yr).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3310128"/>
          <a:ext cx="56692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94560"/>
                <a:gridCol w="2194560"/>
              </a:tblGrid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82296" marR="82296" marT="0" marB="0">
                    <a:solidFill>
                      <a:srgbClr val="0F3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Saving/yr</a:t>
                      </a:r>
                    </a:p>
                  </a:txBody>
                  <a:tcPr anchor="ctr" marL="82296" marR="82296" marT="0" marB="0">
                    <a:solidFill>
                      <a:srgbClr val="0F3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Cumulative</a:t>
                      </a:r>
                    </a:p>
                  </a:txBody>
                  <a:tcPr anchor="ctr" marL="82296" marR="82296" marT="0" marB="0">
                    <a:solidFill>
                      <a:srgbClr val="0F3D24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14.6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14.6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15.5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45.1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16.4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77.5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17.4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111.8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18.5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148.2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19.6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186.9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20.8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227.9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22.1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271.4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NESKAO Proposal  - 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Services included for 15 years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" y="2086660"/>
            <a:ext cx="307238" cy="307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00200" y="1984248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3D24"/>
                </a:solidFill>
                <a:latin typeface="Cambria"/>
              </a:rPr>
              <a:t>Studies 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Feasibility, sizing, detailed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9164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26864" y="1965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564" y="2086660"/>
            <a:ext cx="307238" cy="3072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12664" y="1984248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3D24"/>
                </a:solidFill>
                <a:latin typeface="Cambria"/>
              </a:rPr>
              <a:t>Turnkey installation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651760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Supply, works and commissioning, manufacturer warranties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7" y="169164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39327" y="1965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028" y="2086660"/>
            <a:ext cx="307238" cy="3072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25128" y="1984248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3D24"/>
                </a:solidFill>
                <a:latin typeface="Cambria"/>
              </a:rPr>
              <a:t>Operation &amp; 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651760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Preventive and corrective maintenance for the whole PPA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75887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950207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0" y="4070908"/>
            <a:ext cx="307238" cy="3072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00200" y="3968496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3D24"/>
                </a:solidFill>
                <a:latin typeface="Cambria"/>
              </a:rPr>
              <a:t>All-risk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36007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Full coverage of the installation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3675887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26864" y="3950207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7564" y="4070908"/>
            <a:ext cx="307238" cy="3072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12664" y="3968496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3D24"/>
                </a:solidFill>
                <a:latin typeface="Cambria"/>
              </a:rPr>
              <a:t>Real-time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4636007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Production tracking accessible to the client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7" y="3675887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39327" y="3950207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0028" y="4070908"/>
            <a:ext cx="307238" cy="30723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25128" y="3968496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3D24"/>
                </a:solidFill>
                <a:latin typeface="Cambria"/>
              </a:rPr>
              <a:t>Certified metering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636007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Measurement of delivered energy, billing basis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NESKAO Proposal  -  June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2926080"/>
            <a:ext cx="6035040" cy="6035040"/>
          </a:xfrm>
          <a:prstGeom prst="ellipse">
            <a:avLst/>
          </a:prstGeom>
          <a:solidFill>
            <a:srgbClr val="1C4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Cambria"/>
              </a:rPr>
              <a:t>Next steps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3D24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099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Energy audit and technical site visit  (done)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41448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3D24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59736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Analysis of the last 12 CIE bills and contractual tariff setting  (done)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91256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3D24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9544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Signature of the 15-year PPA contract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941063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3D24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59351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Installation in 2 to 3 months, commissioning and first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Abdoulaye OUATTARA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5DD"/>
                </a:solidFill>
                <a:latin typeface="Calibri"/>
              </a:rPr>
              <a:t>Managing Director – ASPAN ENERGY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5DD"/>
                </a:solidFill>
                <a:latin typeface="Calibri"/>
              </a:rPr>
              <a:t>abdoulaye@aspanenergy.com   -   Cocody Bonoumin, Abidjan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9963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A9C2B4"/>
                </a:solidFill>
                <a:latin typeface="Calibri"/>
              </a:rPr>
              <a:t>Indicative offer valid for 90 days - Ref. OF-NESKAO-2026-001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