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du kWh (FCFA HT)</c:v>
                </c:pt>
              </c:strCache>
            </c:strRef>
          </c:tx>
          <c:spPr>
            <a:solidFill>
              <a:srgbClr val="B8504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E0-2E4C-9115-4428A64CDED9}"/>
              </c:ext>
            </c:extLst>
          </c:dPt>
          <c:dPt>
            <c:idx val="1"/>
            <c:invertIfNegative val="0"/>
            <c:bubble3D val="0"/>
            <c:spPr>
              <a:solidFill>
                <a:srgbClr val="5F6F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E0-2E4C-9115-4428A64CDED9}"/>
              </c:ext>
            </c:extLst>
          </c:dPt>
          <c:dPt>
            <c:idx val="2"/>
            <c:invertIfNegative val="0"/>
            <c:bubble3D val="0"/>
            <c:spPr>
              <a:solidFill>
                <a:srgbClr val="1B7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E0-2E4C-9115-4428A64CDE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Groupe électrogène
(carburant seul)</c:v>
                </c:pt>
                <c:pt idx="1">
                  <c:v>Réseau CIE
(tarif de jour)</c:v>
                </c:pt>
                <c:pt idx="2">
                  <c:v>Solaire
ASPAN ENERGY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83.87</c:v>
                </c:pt>
                <c:pt idx="2">
                  <c:v>67.099999999999994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E0-2E4C-9115-4428A64CD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Économies cumulées (M FCFA)</c:v>
                </c:pt>
              </c:strCache>
            </c:strRef>
          </c:tx>
          <c:spPr>
            <a:ln w="38100" cap="flat">
              <a:solidFill>
                <a:srgbClr val="1B7A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7A43"/>
              </a:solidFill>
              <a:ln w="9525" cap="flat">
                <a:solidFill>
                  <a:srgbClr val="1B7A4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An 1</c:v>
                </c:pt>
                <c:pt idx="1">
                  <c:v>An 3</c:v>
                </c:pt>
                <c:pt idx="2">
                  <c:v>An 5</c:v>
                </c:pt>
                <c:pt idx="3">
                  <c:v>An 7</c:v>
                </c:pt>
                <c:pt idx="4">
                  <c:v>An 9</c:v>
                </c:pt>
                <c:pt idx="5">
                  <c:v>An 11</c:v>
                </c:pt>
                <c:pt idx="6">
                  <c:v>An 13</c:v>
                </c:pt>
                <c:pt idx="7">
                  <c:v>An 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14.6</c:v>
                </c:pt>
                <c:pt idx="1">
                  <c:v>43.8</c:v>
                </c:pt>
                <c:pt idx="2">
                  <c:v>73</c:v>
                </c:pt>
                <c:pt idx="3">
                  <c:v>102.2</c:v>
                </c:pt>
                <c:pt idx="4">
                  <c:v>131.4</c:v>
                </c:pt>
                <c:pt idx="5">
                  <c:v>160.6</c:v>
                </c:pt>
                <c:pt idx="6">
                  <c:v>189.8</c:v>
                </c:pt>
                <c:pt idx="7">
                  <c:v>219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13-DD4F-8031-C361864A0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68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1B7A4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3657600"/>
            <a:ext cx="3291840" cy="3291840"/>
          </a:xfrm>
          <a:prstGeom prst="ellipse">
            <a:avLst/>
          </a:prstGeom>
          <a:solidFill>
            <a:srgbClr val="1B7A4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58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FINANCIÈRE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solaire photovoltaïque de 600 kWc en autoconsommation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</a:t>
            </a: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NESKAO</a:t>
            </a:r>
            <a:r>
              <a:rPr lang="en-US" sz="16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Contrat PPA – 15 ans      Réf. OF-NESKAO-2026-001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investissement  •  Économies garanties  •  Énergie propre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PPA ASPAN ENERGY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finance, installe, possède et exploite la centrale sur le site de NESKAO. NESKAO ne paie que l'énergie solaire consommée.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investissement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130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du financement porté par ASPAN ENERGY (études, équipements, travaux).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1032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764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charge d'exploitation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2130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assurance et monitoring inclus pendant 15 ans.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8368" y="35844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7216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à la consommation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mensuelle des seuls kWh solaires livrés, compteur certifié.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10328" y="35844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7216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20 % garanti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solaire contractuellement inférieur de 20 % au tarif de jour CIE.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June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en chiffres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kWc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81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installée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870 000 kWh/an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estimée (base 1 450 kWh/kWc/an à Abidjan)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à 3  mois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050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réalisation après signature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984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techniques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192024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monocristallins haut rendement + onduleurs string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Autoconsommation sur site, en complément du réseau CIE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certifié de l'énergie livrée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production en temps réel, accessible à NESKAO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affiné après étude technique du site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June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tarifaires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ASPAN = Tarif de jour CIE × 0,80    </a:t>
            </a:r>
            <a:r>
              <a:rPr lang="en-US" sz="13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67,10 FCFA/kWh HT (référence CIE : 83,87 FCFA/kWh HT)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19659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protectrice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tarif ASPAN suit la grille CIE en conservant la décote de 20 % : toute hausse CIE accroît l'économie de NESKAO.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contractuelle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de référence confirmé sur les 12 dernières factures CIE de NESKAO. Facturation mensuelle sur relevé du compteur solaire.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June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– Substitution du réseau CIE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solaire de 870 000 kWh/an intégralement substituée au tarif de jour CIE (83,87 FCFA/kWh HT).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16,77 </a:t>
            </a:r>
            <a:r>
              <a:rPr lang="en-US" sz="1300" dirty="0">
                <a:solidFill>
                  <a:srgbClr val="5F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FCFA/kWh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unitaire garantie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 M </a:t>
            </a:r>
            <a:r>
              <a:rPr lang="en-US" sz="1300" dirty="0">
                <a:solidFill>
                  <a:srgbClr val="5F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 HT/an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annuelle estimée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F3D2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 M </a:t>
            </a:r>
            <a:r>
              <a:rPr lang="en-US" sz="1300" dirty="0">
                <a:solidFill>
                  <a:srgbClr val="D9EB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 HT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cumulée sur 15 ans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57200" y="3154680"/>
          <a:ext cx="82296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June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– Substitution du groupe électrogène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3446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: gasoil à 700 FCFA/litre, consommation de 0,30 L/kWh, soit 210 FCFA/kWh (carburant seul, hors maintenance et amortissement).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FCFA/kWh</a:t>
            </a:r>
            <a:r>
              <a:rPr lang="en-US" sz="1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groupe électrogène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67,10 FCFA/kWh</a:t>
            </a:r>
            <a:r>
              <a:rPr lang="en-US" sz="1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solaire ASPAN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7724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68 % </a:t>
            </a:r>
            <a:r>
              <a:rPr lang="en-US" sz="13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coût du kWh, soit </a:t>
            </a:r>
            <a:r>
              <a:rPr lang="en-US" sz="15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142,90 FCFA</a:t>
            </a:r>
            <a:r>
              <a:rPr lang="en-US" sz="13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d'économie par kWh substitué.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4663440" y="150876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0F3D24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mixtes illustratifs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Délestage modéré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 CIE / 15 % groupe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31 M / an   •   ≈ 466 M sur 15 ans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Délestage important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 CIE / 35 % groupe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53 M / an   •   ≈ 795 M sur 15 ans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en FCFA HT – répartition ajustable selon le profil réel de NESKAO.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June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Prestations incluses pendant 15 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3560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&amp; ingénierie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Faisabilité, dimensionnement, ingénierie détaillée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3560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clé en main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Fourniture, travaux et mise en service, garanties constructeur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30936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356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&amp; maintenance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préventive et curative pendant tout le PPA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1868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tous risques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de l'installation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1868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47472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production accessible à NESKAO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30936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1868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936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certifié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l'énergie livrée, base de la facturation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June 2026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840480" cy="3840480"/>
          </a:xfrm>
          <a:prstGeom prst="ellipse">
            <a:avLst/>
          </a:prstGeom>
          <a:solidFill>
            <a:srgbClr val="1B7A4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énergétique et visite technique du site (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effectué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12 dernières factures CIE et calage du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contractuel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effectué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du contrat PPA 15 ans.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à 3 mois, puis mise en service et premières économies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 OUATTARA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Général – ASPAN ENERGY CI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abdoulaye@aspanenergy.com  •  Cocody Bonoumin, Abidjan</a:t>
            </a:r>
            <a:endParaRPr lang="en-US" sz="1600" dirty="0"/>
          </a:p>
          <a:p>
            <a:pPr marL="0" indent="0">
              <a:buNone/>
            </a:pPr>
            <a:r>
              <a:rPr lang="en-US" sz="105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indicative valable 90 jours – Réf. OF-NESKAO-2026-001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673</Words>
  <Application>Microsoft Macintosh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Offre financière NESKAO – Centrale solaire 600 kWc</dc:title>
  <dc:subject>PptxGenJS Presentation</dc:subject>
  <dc:creator>ASPAN ENERGY CI</dc:creator>
  <cp:lastModifiedBy>Ouattara Cisse</cp:lastModifiedBy>
  <cp:revision>2</cp:revision>
  <dcterms:created xsi:type="dcterms:W3CDTF">2026-06-11T18:45:31Z</dcterms:created>
  <dcterms:modified xsi:type="dcterms:W3CDTF">2026-06-11T18:57:46Z</dcterms:modified>
</cp:coreProperties>
</file>