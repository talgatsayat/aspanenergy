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Coût du kWh (FCFA HT)</c:v>
                </c:pt>
              </c:strCache>
            </c:strRef>
          </c:tx>
          <c:spPr>
            <a:solidFill>
              <a:srgbClr val="B85042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850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8E0-2E4C-9115-4428A64CDED9}"/>
              </c:ext>
            </c:extLst>
          </c:dPt>
          <c:dPt>
            <c:idx val="1"/>
            <c:invertIfNegative val="0"/>
            <c:bubble3D val="0"/>
            <c:spPr>
              <a:solidFill>
                <a:srgbClr val="5F6F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E0-2E4C-9115-4428A64CDED9}"/>
              </c:ext>
            </c:extLst>
          </c:dPt>
          <c:dPt>
            <c:idx val="2"/>
            <c:invertIfNegative val="0"/>
            <c:bubble3D val="0"/>
            <c:spPr>
              <a:solidFill>
                <a:srgbClr val="1B7A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8E0-2E4C-9115-4428A64CDED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A2B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Groupe électrogène
(carburant seul)</c:v>
                </c:pt>
                <c:pt idx="1">
                  <c:v>Réseau CIE
(tarif de jour)</c:v>
                </c:pt>
                <c:pt idx="2">
                  <c:v>Solaire
ASPAN ENERGY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210</c:v>
                </c:pt>
                <c:pt idx="1">
                  <c:v>83.87</c:v>
                </c:pt>
                <c:pt idx="2">
                  <c:v>67.099999999999994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8E0-2E4C-9115-4428A64CDE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F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Économies cumulées (M FCFA)</c:v>
                </c:pt>
              </c:strCache>
            </c:strRef>
          </c:tx>
          <c:spPr>
            <a:ln w="38100" cap="flat">
              <a:solidFill>
                <a:srgbClr val="1B7A4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7A43"/>
              </a:solidFill>
              <a:ln w="9525" cap="flat">
                <a:solidFill>
                  <a:srgbClr val="1B7A43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An 1</c:v>
                </c:pt>
                <c:pt idx="1">
                  <c:v>An 3</c:v>
                </c:pt>
                <c:pt idx="2">
                  <c:v>An 5</c:v>
                </c:pt>
                <c:pt idx="3">
                  <c:v>An 7</c:v>
                </c:pt>
                <c:pt idx="4">
                  <c:v>An 9</c:v>
                </c:pt>
                <c:pt idx="5">
                  <c:v>An 11</c:v>
                </c:pt>
                <c:pt idx="6">
                  <c:v>An 13</c:v>
                </c:pt>
                <c:pt idx="7">
                  <c:v>An 15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14.6</c:v>
                </c:pt>
                <c:pt idx="1">
                  <c:v>43.8</c:v>
                </c:pt>
                <c:pt idx="2">
                  <c:v>73</c:v>
                </c:pt>
                <c:pt idx="3">
                  <c:v>102.2</c:v>
                </c:pt>
                <c:pt idx="4">
                  <c:v>131.4</c:v>
                </c:pt>
                <c:pt idx="5">
                  <c:v>160.6</c:v>
                </c:pt>
                <c:pt idx="6">
                  <c:v>189.8</c:v>
                </c:pt>
                <c:pt idx="7">
                  <c:v>219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513-DD4F-8031-C361864A00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F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9682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023360" cy="4023360"/>
          </a:xfrm>
          <a:prstGeom prst="ellipse">
            <a:avLst/>
          </a:prstGeom>
          <a:solidFill>
            <a:srgbClr val="1B7A4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3657600"/>
            <a:ext cx="3291840" cy="3291840"/>
          </a:xfrm>
          <a:prstGeom prst="ellipse">
            <a:avLst/>
          </a:prstGeom>
          <a:solidFill>
            <a:srgbClr val="1B7A4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9436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6583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CI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0292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OFFRE FINANCIÈRE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50292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Centrale solaire photovoltaïque de 600 kWc en autoconsommation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3246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: </a:t>
            </a: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NESKAO</a:t>
            </a:r>
            <a:r>
              <a:rPr lang="en-US" sz="1600" dirty="0">
                <a:solidFill>
                  <a:srgbClr val="D9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Contrat PPA – 15 ans      Réf. OF-NESKAO-2026-001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investissement  •  Économies garanties  •  Énergie propre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PPA ASPAN ENERGY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finance, installe, possède et exploite la centrale sur le site de NESKAO. NESKAO ne paie que l'énergie solaire consommée.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" y="198424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1214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647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investissement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21305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du financement porté par ASPAN ENERGY (études, équipements, travaux).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6002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910328" y="198424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12140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7647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charge d'exploitation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715000" y="21305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Maintenance, assurance et monitoring inclus pendant 15 ans.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2004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58368" y="358444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7216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364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à la consommation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63040" y="37307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 mensuelle des seuls kWh solaires livrés, compteur certifié.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09160" y="32004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910328" y="358444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72160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3364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20 % garanti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715000" y="37307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solaire contractuellement inférieur de 20 % au tarif de jour CIE.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CI  •  Offre financière NESKAO  •  Juin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projet en chiffres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kWc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819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Puissance installée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870 000 kWh/an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8163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estimée (base 1 450 kWh/kWc/an à Abidjan)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à 3  mois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40507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réalisation après signature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3977640" cy="3566160"/>
          </a:xfrm>
          <a:prstGeom prst="roundRect">
            <a:avLst>
              <a:gd name="adj" fmla="val 205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29844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77840" y="12984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 techniques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983480" y="192024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monocristallins haut rendement + onduleurs string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Autoconsommation sur site, en complément du réseau CIE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Comptage certifié de l'énergie livrée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de production en temps réel, accessible à NESKAO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Dimensionnement affiné après étude technique du site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CI  •  Offre financière NESKAO  •  Juin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Conditions tarifaires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ASPAN = Tarif de jour CIE × 0,80    </a:t>
            </a:r>
            <a:r>
              <a:rPr lang="en-US" sz="1300" dirty="0">
                <a:solidFill>
                  <a:srgbClr val="D9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soit 67,10 FCFA/kWh HT (référence CIE : 83,87 FCFA/kWh HT)</a:t>
            </a:r>
            <a:endParaRPr lang="en-US" sz="17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28800"/>
          <a:ext cx="5120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806440" y="1965960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Indexation protectrice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tarif ASPAN suit la grille CIE en conservant la décote de 20 % : toute hausse CIE accroît l'économie de NESKAO.</a:t>
            </a:r>
            <a:endParaRPr lang="en-US" sz="15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contractuelle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de référence confirmé sur les 12 dernières factures CIE de NESKAO. Facturation mensuelle sur relevé du compteur solaire.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CI  •  Offre financière NESKAO  •  Juin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1 – Substitution du réseau CIE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solaire de 870 000 kWh/an intégralement substituée au tarif de jour CIE (83,87 FCFA/kWh HT).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7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16,77 </a:t>
            </a:r>
            <a:r>
              <a:rPr lang="en-US" sz="1300" dirty="0">
                <a:solidFill>
                  <a:srgbClr val="5F6F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FCFA/kWh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unitaire garantie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627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7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14,6 M </a:t>
            </a:r>
            <a:r>
              <a:rPr lang="en-US" sz="1300" dirty="0">
                <a:solidFill>
                  <a:srgbClr val="5F6F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FCFA HT/an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7472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annuelle estimée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0F3D2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1627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 M </a:t>
            </a:r>
            <a:r>
              <a:rPr lang="en-US" sz="1300" dirty="0">
                <a:solidFill>
                  <a:srgbClr val="D9EB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FCFA HT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0936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cumulée sur 15 ans</a:t>
            </a:r>
            <a:endParaRPr lang="en-US" sz="12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457200" y="3154680"/>
          <a:ext cx="82296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CI  •  Offre financière NESKAO  •  Juin 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2 – Substitution du groupe électrogène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3446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: gasoil à 700 FCFA/litre, consommation de 0,30 L/kWh, soit 210 FCFA/kWh (carburant seul, hors maintenance et amortissement).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3063240"/>
          </a:xfrm>
          <a:prstGeom prst="roundRect">
            <a:avLst>
              <a:gd name="adj" fmla="val 2388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83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FCFA/kWh</a:t>
            </a:r>
            <a:r>
              <a:rPr lang="en-US" sz="12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groupe électrogène</a:t>
            </a:r>
            <a:endParaRPr lang="en-US" sz="2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5146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2514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67,10 FCFA/kWh</a:t>
            </a:r>
            <a:r>
              <a:rPr lang="en-US" sz="12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solaire ASPAN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77240" y="32461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68 % </a:t>
            </a:r>
            <a:r>
              <a:rPr lang="en-US" sz="13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coût du kWh, soit </a:t>
            </a:r>
            <a:r>
              <a:rPr lang="en-US" sz="15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142,90 FCFA</a:t>
            </a:r>
            <a:r>
              <a:rPr lang="en-US" sz="13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d'économie par kWh substitué.</a:t>
            </a:r>
            <a:endParaRPr lang="en-US" sz="3400" dirty="0"/>
          </a:p>
        </p:txBody>
      </p:sp>
      <p:sp>
        <p:nvSpPr>
          <p:cNvPr id="10" name="Shape 6"/>
          <p:cNvSpPr/>
          <p:nvPr/>
        </p:nvSpPr>
        <p:spPr>
          <a:xfrm>
            <a:off x="4663440" y="1508760"/>
            <a:ext cx="4023360" cy="3063240"/>
          </a:xfrm>
          <a:prstGeom prst="roundRect">
            <a:avLst>
              <a:gd name="adj" fmla="val 2388"/>
            </a:avLst>
          </a:prstGeom>
          <a:solidFill>
            <a:srgbClr val="0F3D24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93776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mixtes illustratifs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937760" y="21031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Délestage modéré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AF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85 % CIE / 15 % groupe</a:t>
            </a:r>
            <a:endParaRPr lang="en-US" sz="13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31 M / an   •   ≈ 466 M sur 15 ans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3063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Délestage important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AF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65 % CIE / 35 % groupe</a:t>
            </a:r>
            <a:endParaRPr lang="en-US" sz="13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53 M / an   •   ≈ 795 M sur 15 ans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37760" y="4069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F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Montants en FCFA HT – répartition ajustable selon le profil réel de NESKAO.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CI  •  Offre financière NESKAO  •  Juin 2026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Prestations incluses pendant 15 ans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35608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92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Études &amp; ingénierie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Faisabilité, dimensionnement, ingénierie détaillée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9184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474720" y="13258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143560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1892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clé en main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7472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Fourniture, travaux et mise en service, garanties constructeur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2648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309360" y="13258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435608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1892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&amp; maintenance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30936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préventive et curative pendant tout le PPA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218688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0080" y="3675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tous risques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0080" y="3977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complète de l'installation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291840" y="292608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3474720" y="3108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48" y="3218688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474720" y="3675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temps réel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3474720" y="3977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production accessible à NESKAO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126480" y="292608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6309360" y="3108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3218688"/>
            <a:ext cx="283464" cy="28346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09360" y="3675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Comptage certifié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6309360" y="3977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de l'énergie livrée, base de la facturation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CI  •  Offre financière NESKAO  •  Juin 2026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3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3108960"/>
            <a:ext cx="3840480" cy="3840480"/>
          </a:xfrm>
          <a:prstGeom prst="ellipse">
            <a:avLst/>
          </a:prstGeom>
          <a:solidFill>
            <a:srgbClr val="1B7A4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Prochaines étapes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2344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énergétique et visite technique du site (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effectué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9202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12 dernières factures CIE et calage du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contractuel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effectué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606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du contrat PPA 15 ans.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3291840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2918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à 3 mois, puis mise en service et premières économies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39776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Abdoulaye OUATTARA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D9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Directeur Général – ASPAN ENERGY CI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D9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abdoulaye@aspanenergy.com  •  Cocody Bonoumin, Abidjan</a:t>
            </a:r>
            <a:endParaRPr lang="en-US" sz="1600" dirty="0"/>
          </a:p>
          <a:p>
            <a:pPr marL="0" indent="0">
              <a:buNone/>
            </a:pPr>
            <a:r>
              <a:rPr lang="en-US" sz="1050" i="1" dirty="0">
                <a:solidFill>
                  <a:srgbClr val="AF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indicative valable 90 jours – Réf. OF-NESKAO-2026-001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673</Words>
  <Application>Microsoft Macintosh PowerPoint</Application>
  <PresentationFormat>On-screen Show (16:9)</PresentationFormat>
  <Paragraphs>102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Offre financière NESKAO – Centrale solaire 600 kWc</dc:title>
  <dc:subject>PptxGenJS Presentation</dc:subject>
  <dc:creator>ASPAN ENERGY CI</dc:creator>
  <cp:lastModifiedBy>Ouattara Cisse</cp:lastModifiedBy>
  <cp:revision>2</cp:revision>
  <dcterms:created xsi:type="dcterms:W3CDTF">2026-06-11T18:45:31Z</dcterms:created>
  <dcterms:modified xsi:type="dcterms:W3CDTF">2026-06-11T18:57:46Z</dcterms:modified>
</cp:coreProperties>
</file>